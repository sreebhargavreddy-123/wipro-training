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91" r:id="rId9"/>
    <p:sldId id="264" r:id="rId10"/>
    <p:sldId id="265" r:id="rId11"/>
    <p:sldId id="266" r:id="rId12"/>
    <p:sldId id="267" r:id="rId13"/>
    <p:sldId id="268" r:id="rId14"/>
    <p:sldId id="269" r:id="rId15"/>
    <p:sldId id="296" r:id="rId16"/>
    <p:sldId id="295" r:id="rId17"/>
    <p:sldId id="289" r:id="rId18"/>
    <p:sldId id="270" r:id="rId19"/>
    <p:sldId id="286" r:id="rId20"/>
    <p:sldId id="293" r:id="rId21"/>
    <p:sldId id="287" r:id="rId22"/>
    <p:sldId id="272" r:id="rId23"/>
    <p:sldId id="273" r:id="rId24"/>
    <p:sldId id="274" r:id="rId25"/>
    <p:sldId id="275" r:id="rId26"/>
    <p:sldId id="276" r:id="rId27"/>
    <p:sldId id="277" r:id="rId28"/>
    <p:sldId id="298" r:id="rId29"/>
    <p:sldId id="297" r:id="rId30"/>
    <p:sldId id="299" r:id="rId31"/>
    <p:sldId id="300" r:id="rId32"/>
    <p:sldId id="290" r:id="rId33"/>
    <p:sldId id="278" r:id="rId34"/>
    <p:sldId id="280" r:id="rId35"/>
    <p:sldId id="283" r:id="rId36"/>
    <p:sldId id="285" r:id="rId3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73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2561-A042-3A11-4B16-7BF7915E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83022-33E2-DDBE-C981-E2051BBC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A5AF9-68DC-C6FE-FA99-FCC0F6803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4622-74E0-D138-6735-6E1E79F6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2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112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98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2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5125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994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849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1102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8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284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01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87573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086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8768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035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719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1294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3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2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6B6D4"/>
                </a:solidFill>
              </a:rPr>
              <a:t>CAPSTONE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End-to-End Test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1  ·  UI E2E Automation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2  ·  Food Fun REST API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Rohith V  H ·  Kalla Pavani  ·  Sana Bano  ·  Sree Bhargav Reddy  ·  Amulya Rani Noonela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Wipro Training  |  IIHT Techademy  |  February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Selenium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Postman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Meet the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Wipro Training | IIHT Techademy — All 5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Rohith V 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 - Selenium - Robot Framework - Postman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72968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6304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Kalla Pavani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1336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25896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463040"/>
            <a:ext cx="26060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16459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Sana Bano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84264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63056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8892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Sree Bhargav Reddy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2968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72968" y="2788920"/>
            <a:ext cx="260604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0128" y="297180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331012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31336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Amulya Rani Noonela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31336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012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Training Skills Acquired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5 members trained across the full automation testing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Python Programming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Core language for all automation scripts and Flask API development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Selenium WebDriver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Browser automation for Chrome, Firefox and Edge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Pytest Framework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Unit &amp; integration testing with parametrize, fixtures and conftest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Keyword-driven testing with SeleniumLibrary &amp; RequestsLibrary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1148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Postman (Manual)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Manual API verification — 18 REST endpoints across 5 modules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6888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6032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Page Object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4203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Clean POM design for maintainable, scalable test code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0916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Data-Driven Testing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CSV-based testing — new users with zero code changes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🌶️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Flask REST APIs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971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Built Food Fun API with 18 endpoints across 5 modules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Capstone at a Glance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Two complete, production-grade testing projects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UI E2E Automation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demowebshop.tricentis.com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Web UI End-to-End Automation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Frameworks: Selenium + Pytest + Robot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Approach: Page Object Model + CSV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Flow: 10 Steps — Register to Logout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5 users — 4/5 PASSED (3m 56s)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3 users — all PASSED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Browsers: Chrome · Firefox · Edge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4114800" cy="320040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F3C7"/>
                </a:solidFill>
              </a:rPr>
              <a:t>PROJECT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Food Fun API Testing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Food Fun — Python Flask REST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Backend API Testing (Manual+Auto)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Tools: Flask · Pytest · Robot · Postman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Endpoints: 18 REST APIs across 5 modules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Manual: Postman — all 18 endpoints 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38 tests across 6 files — PASSED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13 E2E API test cases — PASSED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Modules: Restaurant · Dish · User · Order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Takeaways &amp; Learnings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the team gained from the Wipro Training program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Real-World E2E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Gained hands-on knowledge of manual and automation testing — designed and executed real-world E2E test scenarios on demowebshop.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Dual Framework Mastery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50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automation frameworks using Selenium with Python (Pytest) and Robot Framework with SeleniumLibrary for reliable web testing.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43784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163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Implemented data-driven testing using CSV files — add any number of users without changing a single line of code.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Automated Reporting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8770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Generated automated HTML reports with screenshots on failure for both Pytest and Robot Framework.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270248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Collaboration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5902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Developed teamwork, debugging, and time management skills while collaborating on a live automation project.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19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</a:rPr>
              <a:t>PROJECT-1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UI End-to-End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Automation Testing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demowebshop.tricentis.com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Technology Stack  -  Python  ·  Selenium  ·  Pytest  ·  Robot Framework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Page Object Model  ·  CSV Data-Driven  ·  Cross-Browser  ·  10-Step E2E 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Problem Statement – Project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Why automation was needed for demowebshop.tricentis.com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demowebshop.tricentis.com is a real e-commerce platform used for automation practice.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Testing flows (Register → Login → Cart → Logout) manually for multiple users is slow and error-prone.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Hard to scale — adding a new test user means duplicating entire test scripts.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 automated reporting — testers had to manually verify pass/fail.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Cross-browser coverage was not possible without automation.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GOALS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Automate complete user journey (10 steps)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Zero code change when adding new users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Cross-browser coverage — Chrome, Firefox, Edge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Auto-generated HTML reports per run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Step-named screenshots on failure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Scalable, maintainable POM design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Solution: Built TWO frameworks — Pytest + Selenium (POM) and Robot Framework — both data-driven via CSV and cross-browser ready.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47472" y="987552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Pytest Automation Framework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Python, Pytest, Selenium,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Data-driven E2E tests with HTML reports &amp; screenshots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 Automation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Framework, SeleniumLibrary, Python,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Keyword-driven E2E suite with automated reporting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Application Under Test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E-Commerce App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FC3F7"/>
                          </a:solidFill>
                        </a:rPr>
                        <a:t>demowebshop.tricentis.com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Full user journey from Registration to Logout automated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Browsers Supported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Cross-Browser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Chrome, Firefox, Edge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Configurable via config file — no code change needed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Selenium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Objective: Automate 10-step E2E user flow — data-driven via 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Selenium_Pytest/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pages/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base_page.py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login_page.py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registration_page.py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home_page.py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product_page.py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cart_page.py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test_full_flow.py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utilities/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browser.py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helper.py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config/   — config.ini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data/     — test_data.csv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  — HTML reports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screenshots/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47716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Page Object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Python class — RegisterPage, LoginPage, CartPage, ProductPage, HomePage, BasePage.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conftest.py + Fixtures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fixtures and @pytest.mark.parametrize feeds each CSV row as a separate test case automatically.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10-Step E2E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 → Login → Search → Product → Cart → Update Qty → Remove → Logout — automated per user.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Screenshot on Failure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fail_step3_login_20260219.png — step-named, timestamped screenshots for instant failure identification.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Unique HTML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report_19FEB2026_1530.html — timestamped, never overwritten, full history preserved per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06140" y="4654296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6542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5 users — 4/5 PASSED  |  Total time: 3 min 56 sec  |  Tools: Python · Pytest · Selenium · CSV · PyCharm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Same 10-step E2E flow — keyword-driven, CSV data-driven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Selenium_Robot/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test_All.robot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keywords/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common_keywords.robot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login_keywords.robot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cart_keywords.robot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product_keywords.robot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register_keywords.robot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resources/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config.robot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locators.robot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variables/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test_data.csv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log.html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report.html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output.xml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Keyword-Driven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Separate .robot keyword files per module — login, cart, product, register — clean, reusable keywords.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Same 10-Step E2E 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Identical flow to Pytest: Register → Login → Search → Cart → Update → Remove → Logout per CSV row.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CSV-Driven Execution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row in test_data.csv runs as E2E Flow - User 1, 2, 3... Zero code changes to add users.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Test Teardown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closes automatically via Test Teardown — no leftover sessions between test runs.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Automated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Robot auto-generates log.html, report.html and output.xml after every test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4647353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497580" y="4656497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3 users — E2E Flow User 1, 2, 3 — all PASSED  |  Tools: Robot Framework · SeleniumLibrary · Python · CSV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E2E Test Flow – 10 Steps Per User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Applies to both Pytest and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Site Loaded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Assert page title and URL is correct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Fill form, select gender, submit registration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credentials, verify account link visible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Search Product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keyword in search, assert results appear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Open 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product card, verify detail page and price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523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Add to Cart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quantity, click Add to Cart, check notification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5039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Cart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Navigate to cart, assert product and quantity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8523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Update Quantity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8523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Change quantity field, click Update Cart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5039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Remove Item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Check remove checkbox, click Update Cart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28523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Logout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8523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Log out link, verify session ended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Data-Driven Testing – CSV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Add any user by adding a row — zero code changes in both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</a:rPr>
              <a:t>test_data.csv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first_name, last_name, email,                     password,   gender,  product_search,  product_name,  add_qty, updated_qty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Sana,       Bano,      sana.bano@test.com,         Test@1234,  female,  Blue Jeans,      Blue Jeans,    1,      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Kalla,      Pavani,    kalla.pavani@test.com,       Pass@5678,  female,  Computing,       Computing,     1,      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Rohit,      V,         rohit.v@test.com,            pass@123,   male,    Blue Jeans,      Blue Jeans,    2,       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Add any new row here — both Pytest and Robot pick it up automatically on the next run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 Users — Zero Code Changes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Add any user to CSV — both Pytest and Robot auto-detect on next run. No script edits required.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36008" y="2697480"/>
            <a:ext cx="64008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Step-Named Screenshots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fail_step3_login_20260219.png — know exactly where it failed at a glance, instantly.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40480"/>
            <a:ext cx="6400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Cross-Browser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Chrome, Firefox, Edge — change one word in config.ini, no other changes needed anywhere.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38404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Unique Reports Per Run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report_19FEB2026_1530.html — timestamped, full history preserved, never overwritten.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Our Automation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Six core capabilities built into both Pytest and Robot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N-User Scalability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Add any number of users by adding a CSV row. Both frameworks auto-detect new rows — no code changes required in any test script.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9272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Screenshot on Failure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captures timestamped screenshots on every failure. Robot generates log.html, report.html and output.xml automatically.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27064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Fully Data-Driven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27064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All test data (name, email, password, gender, product, qty) in CSV. Same 10-step flow runs for every row — reusable and maintainable.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Unique Reports Per Run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generates a new timestamped report each run (report_19FEB2026_1530.html). Full run history preserved — no overwrites ever.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27832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27832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19272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Support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9272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Chrome, Firefox and Edge supported. Switch browsers by changing one line in config.ini or config.robot — zero code changes elsewhere.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35624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27064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Page Object Model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class in Pytest. Robot Framework uses separate keyword files per module — easy to maintain, debug and scale.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1: Pytest + Robot Framework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UI Test Steps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Passed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DC262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Failed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Browsers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PYTEST + SELENIUM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test_full_flow[User_1] – Sana Bano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test_full_flow[User_2] – Kalla Pavani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test_full_flow[User_3] – Amulya Noonela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test_full_flow[User_4] – Rohith 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FAILED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test_full_flow[User_5] – Sree Bhargav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 passed  · 1 failed  ·  3 min 56 sec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1 (Sana Bano)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2 (Kalla Pavani)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3 (Rohit V)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 passed  ·  0 failed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F1B8-1BA8-6BEB-2C7A-0FA40996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E81E60-9925-47CA-F8C8-319ACE886BC8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712EEC-1DD7-75AE-AE42-DF97C724BB3F}"/>
              </a:ext>
            </a:extLst>
          </p:cNvPr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F8F777-EF65-A968-63C7-9D2C6D251516}"/>
              </a:ext>
            </a:extLst>
          </p:cNvPr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4444"/>
                </a:solidFill>
              </a:rPr>
              <a:t>PROJECT 1  .  FAILURE DEMO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3A265C-7E16-3EEB-A469-2C50414597D7}"/>
              </a:ext>
            </a:extLst>
          </p:cNvPr>
          <p:cNvSpPr/>
          <p:nvPr/>
        </p:nvSpPr>
        <p:spPr>
          <a:xfrm>
            <a:off x="0" y="475488"/>
            <a:ext cx="9144000" cy="820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96A26C-BBCD-2DD5-4ABA-E6C9BBC53727}"/>
              </a:ext>
            </a:extLst>
          </p:cNvPr>
          <p:cNvSpPr/>
          <p:nvPr/>
        </p:nvSpPr>
        <p:spPr>
          <a:xfrm>
            <a:off x="0" y="475488"/>
            <a:ext cx="256032" cy="820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CFEE06-9864-7E14-C24A-714DAFF2E4F7}"/>
              </a:ext>
            </a:extLst>
          </p:cNvPr>
          <p:cNvSpPr/>
          <p:nvPr/>
        </p:nvSpPr>
        <p:spPr>
          <a:xfrm>
            <a:off x="0" y="475488"/>
            <a:ext cx="91440" cy="82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9F4F3-C369-E6F6-DA83-DFACEB7410E9}"/>
              </a:ext>
            </a:extLst>
          </p:cNvPr>
          <p:cNvSpPr/>
          <p:nvPr/>
        </p:nvSpPr>
        <p:spPr>
          <a:xfrm>
            <a:off x="411480" y="520000"/>
            <a:ext cx="8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Failure - Demonstrating Auto Screenshot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501FB6-D4C8-FD90-C8D6-71153303B772}"/>
              </a:ext>
            </a:extLst>
          </p:cNvPr>
          <p:cNvSpPr/>
          <p:nvPr/>
        </p:nvSpPr>
        <p:spPr>
          <a:xfrm>
            <a:off x="411480" y="900000"/>
            <a:ext cx="8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User_4 failed at Step 4 (Search Product) - empty search field - screenshot captured automatically</a:t>
            </a:r>
          </a:p>
        </p:txBody>
      </p:sp>
      <p:sp>
        <p:nvSpPr>
          <p:cNvPr id="10" name="Shape Left Panel">
            <a:extLst>
              <a:ext uri="{FF2B5EF4-FFF2-40B4-BE49-F238E27FC236}">
                <a16:creationId xmlns:a16="http://schemas.microsoft.com/office/drawing/2014/main" id="{030FAA48-7CBB-CB55-F0A0-1A2B26717959}"/>
              </a:ext>
            </a:extLst>
          </p:cNvPr>
          <p:cNvSpPr/>
          <p:nvPr/>
        </p:nvSpPr>
        <p:spPr>
          <a:xfrm>
            <a:off x="0" y="1296288"/>
            <a:ext cx="4114800" cy="381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Left Accent">
            <a:extLst>
              <a:ext uri="{FF2B5EF4-FFF2-40B4-BE49-F238E27FC236}">
                <a16:creationId xmlns:a16="http://schemas.microsoft.com/office/drawing/2014/main" id="{EC13D98F-B247-21F0-DE4C-588786019A7E}"/>
              </a:ext>
            </a:extLst>
          </p:cNvPr>
          <p:cNvSpPr/>
          <p:nvPr/>
        </p:nvSpPr>
        <p:spPr>
          <a:xfrm>
            <a:off x="0" y="1296288"/>
            <a:ext cx="41148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Explanation">
            <a:extLst>
              <a:ext uri="{FF2B5EF4-FFF2-40B4-BE49-F238E27FC236}">
                <a16:creationId xmlns:a16="http://schemas.microsoft.com/office/drawing/2014/main" id="{6B04BCE7-C0DD-4DFF-D2D4-59D63D037FFD}"/>
              </a:ext>
            </a:extLst>
          </p:cNvPr>
          <p:cNvSpPr/>
          <p:nvPr/>
        </p:nvSpPr>
        <p:spPr>
          <a:xfrm>
            <a:off x="182880" y="1430000"/>
            <a:ext cx="3840000" cy="3550000"/>
          </a:xfrm>
          <a:prstGeom prst="rect">
            <a:avLst/>
          </a:prstGeom>
          <a:noFill/>
          <a:ln/>
        </p:spPr>
        <p:txBody>
          <a:bodyPr wrap="square" lIns="0" tIns="0" rIns="4572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 Happened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User_4 had an empty search keyword in the CSV. The search field was intentionally left blank to trigger a failure at Step 4: Search Product.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Why We Did This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To prove our auto-screenshot mechanism works. The framework detects the failure, names the file with the exact step, and saves it instantly without any manual action.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Screenshot Filename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</a:rPr>
              <a:t>FAIL_step4_search_product_20260220_201148.png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Step name + date + time - all in the filename.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Other 4 Users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User_1, 2, 3 and 5 all PASSED - proving only User_4 had bad input data causing the failure.</a:t>
            </a:r>
          </a:p>
        </p:txBody>
      </p:sp>
      <p:sp>
        <p:nvSpPr>
          <p:cNvPr id="14" name="Shape Right Panel">
            <a:extLst>
              <a:ext uri="{FF2B5EF4-FFF2-40B4-BE49-F238E27FC236}">
                <a16:creationId xmlns:a16="http://schemas.microsoft.com/office/drawing/2014/main" id="{2BB16C5F-B49E-8E10-7A5E-864B2601C4CF}"/>
              </a:ext>
            </a:extLst>
          </p:cNvPr>
          <p:cNvSpPr/>
          <p:nvPr/>
        </p:nvSpPr>
        <p:spPr>
          <a:xfrm>
            <a:off x="4205520" y="1296288"/>
            <a:ext cx="4938480" cy="381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creenshot Label">
            <a:extLst>
              <a:ext uri="{FF2B5EF4-FFF2-40B4-BE49-F238E27FC236}">
                <a16:creationId xmlns:a16="http://schemas.microsoft.com/office/drawing/2014/main" id="{A31A4073-2DDB-8F58-7C60-340EABB8F61E}"/>
              </a:ext>
            </a:extLst>
          </p:cNvPr>
          <p:cNvSpPr/>
          <p:nvPr/>
        </p:nvSpPr>
        <p:spPr>
          <a:xfrm>
            <a:off x="4296960" y="1340000"/>
            <a:ext cx="4755840" cy="21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Auto-Captured Failure Screenshot - PyCharm IDE View</a:t>
            </a:r>
          </a:p>
        </p:txBody>
      </p:sp>
      <p:pic>
        <p:nvPicPr>
          <p:cNvPr id="16" name="Screenshot">
            <a:extLst>
              <a:ext uri="{FF2B5EF4-FFF2-40B4-BE49-F238E27FC236}">
                <a16:creationId xmlns:a16="http://schemas.microsoft.com/office/drawing/2014/main" id="{01FACA2E-2E40-0A05-E255-DF9DE00D8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960" y="1570000"/>
            <a:ext cx="4755840" cy="3300000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sp>
        <p:nvSpPr>
          <p:cNvPr id="17" name="Shape Bottom">
            <a:extLst>
              <a:ext uri="{FF2B5EF4-FFF2-40B4-BE49-F238E27FC236}">
                <a16:creationId xmlns:a16="http://schemas.microsoft.com/office/drawing/2014/main" id="{E2AB47F7-2CE5-450E-4D94-70418310BF08}"/>
              </a:ext>
            </a:extLst>
          </p:cNvPr>
          <p:cNvSpPr/>
          <p:nvPr/>
        </p:nvSpPr>
        <p:spPr>
          <a:xfrm>
            <a:off x="0" y="5115888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Bottom">
            <a:extLst>
              <a:ext uri="{FF2B5EF4-FFF2-40B4-BE49-F238E27FC236}">
                <a16:creationId xmlns:a16="http://schemas.microsoft.com/office/drawing/2014/main" id="{B3E11947-1917-A433-3F20-FC9241F31B24}"/>
              </a:ext>
            </a:extLst>
          </p:cNvPr>
          <p:cNvSpPr/>
          <p:nvPr/>
        </p:nvSpPr>
        <p:spPr>
          <a:xfrm>
            <a:off x="182880" y="51158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x User_4 FAILED (empty search field)  .  checkmark Users 1, 2, 3, 5 PASSED  .  Framework auto-captured screenshot at exact failing step  .  Pytest  .  Selenium  .  PyCharm</a:t>
            </a:r>
          </a:p>
        </p:txBody>
      </p:sp>
    </p:spTree>
    <p:extLst>
      <p:ext uri="{BB962C8B-B14F-4D97-AF65-F5344CB8AC3E}">
        <p14:creationId xmlns:p14="http://schemas.microsoft.com/office/powerpoint/2010/main" val="315226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lure Report - Behavi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opLeft"/>
          <p:cNvSpPr/>
          <p:nvPr/>
        </p:nvSpPr>
        <p:spPr>
          <a:xfrm>
            <a:off x="292608" y="0"/>
            <a:ext cx="6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5" name="TopRight"/>
          <p:cNvSpPr/>
          <p:nvPr/>
        </p:nvSpPr>
        <p:spPr>
          <a:xfrm>
            <a:off x="6500000" y="0"/>
            <a:ext cx="237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78BFA"/>
                </a:solidFill>
              </a:rPr>
              <a:t>PROJECT 1  .  ALLURE REPORT</a:t>
            </a:r>
          </a:p>
        </p:txBody>
      </p:sp>
      <p:sp>
        <p:nvSpPr>
          <p:cNvPr id="6" name="AccentStrip"/>
          <p:cNvSpPr/>
          <p:nvPr/>
        </p:nvSpPr>
        <p:spPr>
          <a:xfrm>
            <a:off x="0" y="502920"/>
            <a:ext cx="18288" cy="46405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LeftPanel"/>
          <p:cNvSpPr/>
          <p:nvPr/>
        </p:nvSpPr>
        <p:spPr>
          <a:xfrm>
            <a:off x="18288" y="502920"/>
            <a:ext cx="4023360" cy="46405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</p:sp>
      <p:sp>
        <p:nvSpPr>
          <p:cNvPr id="8" name="TitleBlock"/>
          <p:cNvSpPr/>
          <p:nvPr/>
        </p:nvSpPr>
        <p:spPr>
          <a:xfrm>
            <a:off x="18288" y="502920"/>
            <a:ext cx="402336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itleText"/>
          <p:cNvSpPr/>
          <p:nvPr/>
        </p:nvSpPr>
        <p:spPr>
          <a:xfrm>
            <a:off x="182880" y="530000"/>
            <a:ext cx="380000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Allure Report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Behaviors View - 5 Test Cases</a:t>
            </a:r>
          </a:p>
        </p:txBody>
      </p:sp>
      <p:sp>
        <p:nvSpPr>
          <p:cNvPr id="10" name="WhatAllure"/>
          <p:cNvSpPr/>
          <p:nvPr/>
        </p:nvSpPr>
        <p:spPr>
          <a:xfrm>
            <a:off x="182880" y="1220000"/>
            <a:ext cx="375000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What is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is a rich HTML test reporting framework that transforms Pytest results into beautiful, interactive dashboards with detailed test behaviour views.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Behaviors Tab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Groups all tests by their function. Each row shows test name, parametrized user, duration, and pass/fail status at a glance.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5 Test Results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Amulya Rani Album - 12s 615ms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Kalla Smartphone - 14s 027ms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</a:rPr>
              <a:t>FAILED</a:t>
            </a:r>
            <a:r>
              <a:rPr lang="en-US" sz="900" dirty="0">
                <a:solidFill>
                  <a:srgbClr val="334155"/>
                </a:solidFill>
              </a:rPr>
              <a:t>  ROHITH Computer - 13s 128ms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Sana Blue Sneaker - 13s 312ms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Sree Bhargav Camera - 12s 328ms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Why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shows Set Up, Test Body, and Tear Down per test. Parameters (user data per row) are visible, making data-driven testing fully transparent and traceable.</a:t>
            </a:r>
          </a:p>
        </p:txBody>
      </p:sp>
      <p:sp>
        <p:nvSpPr>
          <p:cNvPr id="11" name="RightPanel"/>
          <p:cNvSpPr/>
          <p:nvPr/>
        </p:nvSpPr>
        <p:spPr>
          <a:xfrm>
            <a:off x="4041648" y="502920"/>
            <a:ext cx="5102352" cy="46405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RightAccent"/>
          <p:cNvSpPr/>
          <p:nvPr/>
        </p:nvSpPr>
        <p:spPr>
          <a:xfrm>
            <a:off x="4041648" y="502920"/>
            <a:ext cx="51023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Caption"/>
          <p:cNvSpPr/>
          <p:nvPr/>
        </p:nvSpPr>
        <p:spPr>
          <a:xfrm>
            <a:off x="4150000" y="610000"/>
            <a:ext cx="4900000" cy="20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Live Allure Report  -  Behaviors Tab  -  18-02-2026</a:t>
            </a:r>
          </a:p>
        </p:txBody>
      </p:sp>
      <p:pic>
        <p:nvPicPr>
          <p:cNvPr id="14" name="AllureScreenshot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50000" y="1876717"/>
            <a:ext cx="4900000" cy="2106565"/>
          </a:xfrm>
          <a:prstGeom prst="rect">
            <a:avLst/>
          </a:prstGeom>
          <a:ln w="12700">
            <a:solidFill>
              <a:srgbClr val="7C3AED"/>
            </a:solidFill>
          </a:ln>
        </p:spPr>
      </p:pic>
      <p:sp>
        <p:nvSpPr>
          <p:cNvPr id="15" name="StatBar"/>
          <p:cNvSpPr/>
          <p:nvPr/>
        </p:nvSpPr>
        <p:spPr>
          <a:xfrm>
            <a:off x="18288" y="4980000"/>
            <a:ext cx="4023360" cy="16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StatText"/>
          <p:cNvSpPr/>
          <p:nvPr/>
        </p:nvSpPr>
        <p:spPr>
          <a:xfrm>
            <a:off x="182880" y="4985000"/>
            <a:ext cx="3800000" cy="1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4/5 PASSED  </a:t>
            </a:r>
            <a:r>
              <a:rPr lang="en-US" sz="800" dirty="0">
                <a:solidFill>
                  <a:srgbClr val="64748B"/>
                </a:solidFill>
              </a:rPr>
              <a:t>.  Allure  .  Pytest  .  Selenium  .  18-02-2026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1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1  ·  UI End-to-End Automation on demowebshop.tricentis.com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Selenium Too Fast — Dynamic Elements Not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Replaced all time.sleep() calls with WebDriverWait and ExpectedConditions (element_to_be_clickable, visibility_of_element_located). Tests now wait only as long as needed — stable across slow connections and fast CI environments.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481328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Setup Without Duplicating 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Centralised</a:t>
            </a:r>
            <a:r>
              <a:rPr lang="en-US" sz="950" dirty="0">
                <a:solidFill>
                  <a:srgbClr val="475569"/>
                </a:solidFill>
              </a:rPr>
              <a:t> all WebDriver creation inside browser.py → </a:t>
            </a:r>
            <a:r>
              <a:rPr lang="en-US" sz="950" dirty="0" err="1">
                <a:solidFill>
                  <a:srgbClr val="475569"/>
                </a:solidFill>
              </a:rPr>
              <a:t>get_browser</a:t>
            </a:r>
            <a:r>
              <a:rPr lang="en-US" sz="950" dirty="0">
                <a:solidFill>
                  <a:srgbClr val="475569"/>
                </a:solidFill>
              </a:rPr>
              <a:t>(). Reads the browser name from config.ini and returns the correct driver (Chrome / Firefox / Edge). No test file, page class or conftest.py needs to know which browser is active.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Testing Multiple Users Without Copy-Pasting Scripts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@pytest.mark.parametrize in conftest.py to read test_data.csv and generate one independent test case per row automatically. In Robot Framework, a FOR loop iterates each row. Adding a new user = one new CSV row — both frameworks detect it instantly.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7706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Silent Failures — Hard to Know Which Step Broke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 step tracker helper. On any Selenium exception, the except block calls take_screenshot(driver, step_name) and saves the image as FAIL_step3_login_20260220_1114.png. Step number, step name, date and time — all visible in the filename alone.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65A7A"/>
                </a:solidFill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EF3C7"/>
                </a:solidFill>
              </a:rPr>
              <a:t>PROJECT- 2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Foodie App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REST API Testing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Tools &amp; Technology Stack  -  Python  ·  Flask  ·  Pytest  ·  Robot Framework  ·  Postman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18 REST Endpoints  ·  6 Modules  ·  Manual + Automated  ·  38 Pytest Tests  ·  13 Robot Tests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Food Fun – What We Built &amp; 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 stateless Flask REST API with 6 blueprints, tested at 3 levels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Food Fun is a Python Flask REST API built without a database — all data lives in in-memory Python dictionaries in config.py. Six blueprints (restaurants, dishes, users, orders, ratings, admin) are registered in app.py and tested via Postman, Pytest, and Robot Framework.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1417320" cy="69494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02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Python + Blueprints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10512" y="205740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6 route files (blueprints), all registered in app.py. Data stored in config.py as Python dicts with auto-incrementing integer IDs. No DB — fully stateless.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15768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15768"/>
            <a:ext cx="1417320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0998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EF3C7"/>
                </a:solidFill>
              </a:rPr>
              <a:t>Postman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10512" y="2807208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All 18 endpoints tested manually. Verified status codes (200/201/400/404/409), JSON response fields, positive and negative/edge cases for every route.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65576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65576"/>
            <a:ext cx="1417320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02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Automated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8496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Pytest + Flask Test Client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10512" y="3557016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conftest.py creates Flask test client + resets all counters/dicts before each test. 38 tests in 6 files — positive, negative, missing-field, and not-found cases.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15384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215384"/>
            <a:ext cx="1417320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E2E API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599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Robot Framework + RequestsLibrary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10512" y="430682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13 chained test cases against a live server (127.0.0.1:5000). IDs extracted from responses and passed forward — full flow from user registration to admin feedback view.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956048"/>
            <a:ext cx="8503920" cy="109728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4E68E-D036-F7B1-F0C7-54FBF908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291DDB-AB27-6331-B182-677FABAA97B4}"/>
              </a:ext>
            </a:extLst>
          </p:cNvPr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5E8F96-5A7E-3C5A-4759-6D1E36156782}"/>
              </a:ext>
            </a:extLst>
          </p:cNvPr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85F6BE7-56A1-091A-3EB4-2E7633EBD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093207"/>
              </p:ext>
            </p:extLst>
          </p:nvPr>
        </p:nvGraphicFramePr>
        <p:xfrm>
          <a:off x="347472" y="987552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Foodie App REST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Backend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dirty="0">
                          <a:solidFill>
                            <a:srgbClr val="FFFFFF"/>
                          </a:solidFill>
                        </a:rPr>
                        <a:t>Python, Flask, REST APIs, JSON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 Ordering System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, requests library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Automated API validation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Robot Framework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Robot Framework,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RequestsLibrary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Keyword-driven API suite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Manual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Validation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Postman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Configurable via config file — no code change needed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281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Foodie App – What the Code Actually Does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Derived from routes/, tests/, and </a:t>
            </a:r>
            <a:r>
              <a:rPr lang="en-US" sz="1100" dirty="0" err="1">
                <a:solidFill>
                  <a:srgbClr val="475569"/>
                </a:solidFill>
              </a:rPr>
              <a:t>Foodie_App.robot</a:t>
            </a:r>
            <a:r>
              <a:rPr lang="en-US" sz="1100" dirty="0">
                <a:solidFill>
                  <a:srgbClr val="475569"/>
                </a:solidFill>
              </a:rPr>
              <a:t> in the actual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In-Memory Data Store with Auto-ID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config.py holds all data in Python dicts: restaurants{}, dishes{}, users{}, orders{}, ratings{}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Auto-incrementing counters: restaurant_counter, dish_counter, user_counter, order_counter, rating_counter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29768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Each new record gets an auto-assigned integer ID — no database needed, pure in-memory REST API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27448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Admin Approval Gate Before 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Restaurants start with approved=False, disabled=False on registration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837176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Admin must call PUT /api/v1/admin/restaurants/{id}/approve before any order can be placed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37176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validates: restaurant must exist, be approved, and not disabled — otherwise returns 400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45536"/>
            <a:ext cx="4160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Duplicate &amp; Validation Guards on Every Route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Restaurant: 409 if same name already exists. User: 409 if same email already registered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29768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All POST routes validate required fields — return 400 with {"error": "Invalid request"} if missing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29768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Dish add validates restaurant exists (404), Order validates user, restaurant, dish IDs all exist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27448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145536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0368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Price Calculation &amp; Rating-to-Feedback Dual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7176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sums dish prices from config.dishes and stores total_price in the order response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837176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Orders validate each dish belongs to the correct restaurant and is enabled — prevents cross-restaurant dish abuse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837176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Ratings are stored in both config.ratings{} (keyed by ID) and config.feedbacks[] (admin feedback list) simultaneously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D1B2A"/>
                </a:solidFill>
              </a:rPr>
              <a:t>Foodie_App</a:t>
            </a:r>
            <a:r>
              <a:rPr lang="en-US" sz="2200" b="1" dirty="0">
                <a:solidFill>
                  <a:srgbClr val="0D1B2A"/>
                </a:solidFill>
              </a:rPr>
              <a:t> – Folder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Flask API project layout with test suites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FLASK API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r>
              <a:rPr lang="en-US" sz="850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</a:t>
            </a: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613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app.py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config.py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265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routes/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__init__.py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4917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restaurants.py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dishes.py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569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users.py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orders.py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0220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ratings.py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admin.py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2872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tests/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5524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test_restaurants.py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685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test_dishes.py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8176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test_admin.py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9502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test_users.py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0827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test_orders.py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test_ratings.py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34797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robot/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🤖 </a:t>
            </a:r>
            <a:r>
              <a:rPr lang="en-US" sz="85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Foodie_App.robot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6131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📊 log.html / output.xml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41732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17320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BLUEPRINTS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2130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Register, view profile, update, disable restaurant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dishes.py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Add, update, enable/disable, delete dishes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136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User registration, search restaurants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3639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Place order, view by user, view by restaurant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rating and comment for an order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4645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Approve/disable restaurant, view orders &amp; feedback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18 REST API Endpoints – 6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API coverage: GET · POST · PUT · DELETE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HTTP 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 / Operation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 Codes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PUT · 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Register, View Profile, Update Details, Disable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Dish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PUT · PUT ·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Add Dish, Update, Enable/Disable Status,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PUT · PUT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Approve Restaurant, Disable, View Orders, Feedback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User Registration, Search Restaurants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Place Order, View by User, View by 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Give Rating &amp; Comment for an 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Total: 18 endpoints  ·  GET · POST · PUT · DELETE  ·  Status codes: 200, 201, 400, 404, 409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Manual API Testing – Postman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18 endpoints verified manually before automation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POSTMAN COLLECTION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Foodie_App_API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🍽️  Restaurants (4 requests)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🥘  Dish (4 requests)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👤  Users (2 requests)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92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📦  Orders (3 requests)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⭐  Ratings (1 request)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🔧  Admin (4 requests)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562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Total: 18 endpoints across 6 modules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389888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3898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WAS VERIFIED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847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Status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200 OK, 201 Created, 400 Bad Request, 404 Not Found, 409 Conflict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359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JSON Response Fields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5786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All fields and data types verified per endpoint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8712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Positive Scenarios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Valid requests return expected responses and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3832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Negative Scenarios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6027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Duplicate, missing field and not-found cases handled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8953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GET /api/v1/restaurants → 200 OK | name: Food Factory, approved: true, category: Veg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4407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POST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/api/v1/restaurants/1/dishes → 201 CREATED | Aloo Paratha, price 150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API Automation – 18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Automated all 18 endpoints with Flask test client — 6 test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TEST FILE STRUCTURE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2743200" cy="34747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conftest.py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Flask test client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761488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191256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3227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 2 tests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050792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087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4087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2 tests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48056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4517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581144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549140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TOTAL: 18 tests  ·  ALL PASSED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Flask Test Client via conftest.py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No server needed — fast in-process testing without starting a live server.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Status Code 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Every test verifies HTTP status code matches expected (201, 200, 400, 404, 409).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JSON Field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Verified JSON response body fields, types and values after each operation.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Positive &amp; Negative Coverage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 registration, missing fields, invalid IDs, empty body — all tested.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Data Integrity Checks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After CRUD operations, subsequent GET calls verify the changes persisted correctly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29000" y="4572000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4572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18 tests — all PASSED  |  6 test files  |  5 modules covered  |  Tools: Python · Pytest · Flask · conftest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API Automation –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E2E API flow from user registration to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6B6D4"/>
                </a:solidFill>
              </a:rPr>
              <a:t>ROBOT KEYWORDS USED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Restaurant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59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Approve Restaurant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Add Dish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Place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Give Rating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Restaurant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Search Restaurants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Disable Restaurant (Admin)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417320"/>
            <a:ext cx="5577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417320"/>
            <a:ext cx="55778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417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E2E API TEST FLOW – 13 TEST CASES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874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931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User Registration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61888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/api/v1/users/register  →  201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2037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39312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Register Restaurant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6188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  →  201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532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9312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View Restaurant Profile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25328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/api/v1/restaurants/{id}  →  200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28620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3931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Update Restaurant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1888" y="2862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/api/v1/restaurants/{id}  → 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31912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9312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Search Restaurants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61888" y="3191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/api/v1/restaurants/search  →  200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520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393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Add Dish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61888" y="3520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/api/v1/restaurants/{id}/dishes  →  201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3849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3931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Approve Restaurant (Admin)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1888" y="3849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/api/v1/admin/restaurants/{id}/approve  →  200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37560" y="4178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39312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Place Order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1888" y="4178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/api/v1/orders  →  201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37560" y="45079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39312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Give Rating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61888" y="4507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/api/v1/ratings  →  201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46120" y="4572000"/>
            <a:ext cx="557784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333756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✓  All Robot API test cases PASSED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Food Fun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2: Postman + Pytest +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APIs Tested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Tests</a:t>
            </a:r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✓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Postman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PYTEST – 38 TESTS ACROSS 6 MODULES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Restaurants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4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3282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5448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Admin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544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Users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55448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" y="4187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Orders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5448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4489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Ratings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54480" y="4489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1 tests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Total: 18 tests  ·  18 passed  ·  0 failed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ROBOT FRAMEWORK – API FLOW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User Registration  →  PASS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Register &amp; View Restaurant  →  PASS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Update &amp; Search Restaurant  →  PASS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803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Add Dish  →  PASS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Approve Restaurant (Admin)  →  PASS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4352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Place Order  →  PASS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4626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Give Rating  →  PASS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0600" y="486460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A9B4-6DFB-E981-7E40-E8D7C852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DE4A41-0581-099E-4C4F-4B986140BB13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AFC43-F29E-5FC2-213F-431B3D9429B5}"/>
              </a:ext>
            </a:extLst>
          </p:cNvPr>
          <p:cNvSpPr txBox="1"/>
          <p:nvPr/>
        </p:nvSpPr>
        <p:spPr>
          <a:xfrm>
            <a:off x="365759" y="4196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7B25D-BDD4-706C-5EB9-447FB69E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0" y="1117306"/>
            <a:ext cx="4016328" cy="1908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BAD491-1DA0-3BE2-0CA8-802AA4B0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82" y="3173878"/>
            <a:ext cx="3889720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5B7A86-7AF5-3EED-1DFE-48D0B4B3B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980" y="1117305"/>
            <a:ext cx="3889720" cy="1908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174580-9B15-8406-47D5-651158DA35B6}"/>
              </a:ext>
            </a:extLst>
          </p:cNvPr>
          <p:cNvSpPr txBox="1"/>
          <p:nvPr/>
        </p:nvSpPr>
        <p:spPr>
          <a:xfrm>
            <a:off x="3745519" y="747973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Restaurants Module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FE9E4B-6F76-F0F9-E71F-592BEC13A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98" y="3173878"/>
            <a:ext cx="4016329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7714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D2B03-6E40-4C79-B5AC-8EE3ACE62E5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FB6A5-E877-9758-F23F-26D2BEC0A514}"/>
              </a:ext>
            </a:extLst>
          </p:cNvPr>
          <p:cNvSpPr txBox="1"/>
          <p:nvPr/>
        </p:nvSpPr>
        <p:spPr>
          <a:xfrm>
            <a:off x="260252" y="3904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7F73B-A8F3-1526-C187-FE0717D7064A}"/>
              </a:ext>
            </a:extLst>
          </p:cNvPr>
          <p:cNvSpPr txBox="1"/>
          <p:nvPr/>
        </p:nvSpPr>
        <p:spPr>
          <a:xfrm>
            <a:off x="3910818" y="677109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Dishes Module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DFDFF0-EB03-7ABD-1862-B7D5E959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19" y="1067542"/>
            <a:ext cx="4059702" cy="17289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8C5050-32DB-4C5B-CF69-5EE4B803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2" y="3010998"/>
            <a:ext cx="4235838" cy="1819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0874D9-9B42-04F6-0279-A5D14D7F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418" y="2991362"/>
            <a:ext cx="4103504" cy="1839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AB14D4-E1C8-DC92-84AF-C45F950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72" y="1089637"/>
            <a:ext cx="4215828" cy="17068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069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936B-BAF2-A2CD-1171-4F714D29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53F163-532D-AD9E-B3F8-A7A499F3F23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0044D-C0E2-C926-C134-C6E125782105}"/>
              </a:ext>
            </a:extLst>
          </p:cNvPr>
          <p:cNvSpPr txBox="1"/>
          <p:nvPr/>
        </p:nvSpPr>
        <p:spPr>
          <a:xfrm>
            <a:off x="211015" y="3693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949F9-F185-4C7E-22CD-4B525A80A3BC}"/>
              </a:ext>
            </a:extLst>
          </p:cNvPr>
          <p:cNvSpPr txBox="1"/>
          <p:nvPr/>
        </p:nvSpPr>
        <p:spPr>
          <a:xfrm>
            <a:off x="4076113" y="707124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Users Module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5E9E74-FA5B-5571-0BB3-F7B16E53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66" y="1046441"/>
            <a:ext cx="4004714" cy="1785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09C556-3CEC-57DE-B304-F23D8618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1" y="2988522"/>
            <a:ext cx="4143100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72966D-083A-4F83-6D9D-03C51DAFB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866" y="2988522"/>
            <a:ext cx="4004714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ECB061-5F6B-BCE7-75CC-F403F6F0C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99" y="1051397"/>
            <a:ext cx="4143101" cy="178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69223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8FAF-2E71-1052-B89A-E171369C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6C8EAF-8076-C616-85DD-77F1CE21C935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3D506-74AC-23EE-B445-DBFE9161C00F}"/>
              </a:ext>
            </a:extLst>
          </p:cNvPr>
          <p:cNvSpPr txBox="1"/>
          <p:nvPr/>
        </p:nvSpPr>
        <p:spPr>
          <a:xfrm>
            <a:off x="211015" y="36933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11C16-70A8-88FF-1EBC-7603DC2EC515}"/>
              </a:ext>
            </a:extLst>
          </p:cNvPr>
          <p:cNvSpPr txBox="1"/>
          <p:nvPr/>
        </p:nvSpPr>
        <p:spPr>
          <a:xfrm>
            <a:off x="1579098" y="614178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Give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915A5-32EF-D737-4378-2C2C80C4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6" y="983510"/>
            <a:ext cx="4065565" cy="1696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5EC2E-9830-B32E-F36B-6BAE56A0E7B1}"/>
              </a:ext>
            </a:extLst>
          </p:cNvPr>
          <p:cNvSpPr txBox="1"/>
          <p:nvPr/>
        </p:nvSpPr>
        <p:spPr>
          <a:xfrm>
            <a:off x="6274190" y="563338"/>
            <a:ext cx="1779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Admin Feedback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92AB0C-6300-A5E0-166A-063C02B48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13" y="958909"/>
            <a:ext cx="4185138" cy="1720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11C51C-6064-DE22-6BAB-C964BA078D72}"/>
              </a:ext>
            </a:extLst>
          </p:cNvPr>
          <p:cNvSpPr txBox="1"/>
          <p:nvPr/>
        </p:nvSpPr>
        <p:spPr>
          <a:xfrm>
            <a:off x="3703320" y="2783543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Order Module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DD6C2F-5080-1DFE-08E8-490D769D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850" y="3091321"/>
            <a:ext cx="4220301" cy="1789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91A11D-6DFA-FD0F-519D-73A51BD1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62" y="3091320"/>
            <a:ext cx="3967090" cy="1856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2503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2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2  ·  Food Fun REST API  ·  Flask  ·  Pytest  ·  Robot Framework  ·  Postman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 Isolation — Data Leaking Between Pytest Tests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Created reset_memory_and_counters fixture in conftest.py with autouse=True. Before every test it calls .clear() on every dict (restaurants, dishes, users, orders, ratings, feedbacks) and resets all integer counters to 0. Every test always starts from a perfectly clean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11D48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Robot API Chaining — Passing IDs Across 13 Test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Set Suite Variable after every POST response to store IDs (USER_ID, RID, DID, ORDER_ID) at suite scope. Used Evaluate  int(${resp.json()['id']}) to correctly convert JSON values to integers. Each downstream test reads these variables without any re-registration.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Orders Failing — Admin Approval Step Missed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Discovered that Place Order returns 400 'Restaurant not approved' when approved=False (the default). Fixed by adding an explicit PUT /api/v1/admin/restaurants/{id}/approve call in both the Pytest order-setup helper function and the Robot Framework test flow — before every Place Order call.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Building a Testable API Without a Database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Python dicts and integer counters in config.py as the in-memory data layer. Cleanup is trivial (.clear() the dicts). Pytest uses the Flask test client directly (no server). Robot Framework hits a live server on port 5000 — testing the real HTTP path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Multi-Layer Testing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Manual → Unit/API → E2E Automation — all three layers covered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51760" cy="356616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EF3C7"/>
                </a:solidFill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3C7"/>
                </a:solidFill>
              </a:rPr>
              <a:t>Postman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— (N/A for UI)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endpoints verified</a:t>
            </a:r>
          </a:p>
        </p:txBody>
      </p:sp>
      <p:sp>
        <p:nvSpPr>
          <p:cNvPr id="15" name="Text 13"/>
          <p:cNvSpPr/>
          <p:nvPr/>
        </p:nvSpPr>
        <p:spPr>
          <a:xfrm>
            <a:off x="2990088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18688" y="1371600"/>
            <a:ext cx="2651760" cy="356616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18688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218688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UNIT /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18688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Pytest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5 users — 4/5 PASSED</a:t>
            </a:r>
          </a:p>
        </p:txBody>
      </p:sp>
      <p:sp>
        <p:nvSpPr>
          <p:cNvPr id="22" name="Shape 20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tests — all PASSED</a:t>
            </a:r>
          </a:p>
        </p:txBody>
      </p:sp>
      <p:sp>
        <p:nvSpPr>
          <p:cNvPr id="24" name="Text 22"/>
          <p:cNvSpPr/>
          <p:nvPr/>
        </p:nvSpPr>
        <p:spPr>
          <a:xfrm>
            <a:off x="5888736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17336" y="137160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17336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3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117336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E2E 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1733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Robot Framework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3 users — all PASSED</a:t>
            </a:r>
          </a:p>
        </p:txBody>
      </p:sp>
      <p:sp>
        <p:nvSpPr>
          <p:cNvPr id="31" name="Shape 29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13 API tests — all PASSED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Projects apply all three layers: Postman (manual) → Pytest (automated) → Robot Framework (E2E) — maximum test coverage.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Combined Results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tests across both projects — 100% pass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664208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E2E Steps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 Flow)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75688" y="1389888"/>
            <a:ext cx="1664208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75688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Users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31336" y="1389888"/>
            <a:ext cx="1664208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831336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Users</a:t>
            </a:r>
          </a:p>
          <a:p>
            <a:pPr marL="0" indent="0" algn="ctr">
              <a:buNone/>
            </a:pPr>
            <a:r>
              <a:rPr lang="en-US" sz="950" dirty="0"/>
              <a:t>(UI)</a:t>
            </a:r>
          </a:p>
        </p:txBody>
      </p:sp>
      <p:sp>
        <p:nvSpPr>
          <p:cNvPr id="16" name="Shape 14"/>
          <p:cNvSpPr/>
          <p:nvPr/>
        </p:nvSpPr>
        <p:spPr>
          <a:xfrm>
            <a:off x="5586984" y="1389888"/>
            <a:ext cx="1664208" cy="1097280"/>
          </a:xfrm>
          <a:prstGeom prst="rect">
            <a:avLst/>
          </a:prstGeom>
          <a:solidFill>
            <a:srgbClr val="0284C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86984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586984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Endpoints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42632" y="1389888"/>
            <a:ext cx="1664208" cy="109728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342632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42632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5176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1  ·  UI E2E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(5 users)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4/5 PASSED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 min 56 sec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(3 users)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3/3 PASSED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Browsers tested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Chrome · Firefox · Edge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0" y="3895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Frameworks used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Pytest + Selenium, Robot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651760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2  ·  FOOD FUN API TESTING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Postman (manual)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VERIFIED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(38 tests)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PASSED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(13 tests)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13/13 PASSED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Modules covered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5 modules · 18 endpoints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TESTS PASSED  ·  1 FAILURES  ·  Both frameworks  ·  Both projects  ·  Manual + Automated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was built, what was learned, what was proven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1 – UI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10-step E2E flow on demowebshop automated using Pytest + Selenium (5 users, 3m 56s) and Robot Framework (3 users). Cross-browser, CSV data-driven, step-named screenshots.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2 – Food Fun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18 Flask REST API endpoints tested with Postman (manual), </a:t>
            </a:r>
            <a:r>
              <a:rPr lang="en-US" sz="900" dirty="0" err="1">
                <a:solidFill>
                  <a:srgbClr val="475569"/>
                </a:solidFill>
              </a:rPr>
              <a:t>Pytest</a:t>
            </a:r>
            <a:r>
              <a:rPr lang="en-US" sz="900" dirty="0">
                <a:solidFill>
                  <a:srgbClr val="475569"/>
                </a:solidFill>
              </a:rPr>
              <a:t> (18 tests), and Robot Framework (13 API flow tests). All tests passed across all 5 modules.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Both projects use CSV — add any user or input row and both frameworks automatically include it on the next run. Zero code changes required anywhere.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27448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Multi-Layer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Manual (Postman) → Unit/API (Pytest) → E2E Automation (Robot Framework) — all three testing layers covered across both projects.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Technical Skills Applied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Python, Flask, Selenium, Pytest, Robot Framework, REST API Testing, Postman, POM, Keyword-Driven Testing, HTML reporting — all in real projects.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27448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27448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Achievement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Two production-grade testing frameworks delivered within the Wipro Training program — demonstrating complete manual and automation testing expertise.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Wipro Training  |  IIHT Techademy  |  Capstone Project — February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Rohith V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Kalla Pavani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Sana Bano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Sree Bhargav Reddy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Amulya Rani Noonela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Python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Flask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Selenium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Postman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CSV Data-Driven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624</TotalTime>
  <Words>5524</Words>
  <Application>Microsoft Office PowerPoint</Application>
  <PresentationFormat>On-screen Show (16:9)</PresentationFormat>
  <Paragraphs>865</Paragraphs>
  <Slides>36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– Full Presentation</dc:title>
  <dc:subject>PptxGenJS Presentation</dc:subject>
  <dc:creator>PptxGenJS</dc:creator>
  <cp:lastModifiedBy>Rohith V H</cp:lastModifiedBy>
  <cp:revision>34</cp:revision>
  <dcterms:created xsi:type="dcterms:W3CDTF">2026-02-20T06:04:39Z</dcterms:created>
  <dcterms:modified xsi:type="dcterms:W3CDTF">2026-02-23T13:02:43Z</dcterms:modified>
</cp:coreProperties>
</file>